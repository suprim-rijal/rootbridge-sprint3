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687A80C2-74C4-7C41-F46E-3248F1FCD94E}">
          <p14:sldIdLst>
            <p14:sldId id="256"/>
          </p14:sldIdLst>
        </p14:section>
        <p14:section name="Where we started" id="{7833CE95-2DB0-F98D-908D-43EC0B877D32}">
          <p14:sldIdLst>
            <p14:sldId id="257"/>
          </p14:sldIdLst>
        </p14:section>
        <p14:section name="Goals" id="{23782157-0C34-8FDE-0AF3-32ED30C98E61}">
          <p14:sldIdLst>
            <p14:sldId id="258"/>
          </p14:sldIdLst>
        </p14:section>
        <p14:section name="Frontend" id="{F4655539-2490-7DBE-2C96-CA94CC56514A}">
          <p14:sldIdLst>
            <p14:sldId id="259"/>
          </p14:sldIdLst>
        </p14:section>
        <p14:section name="Backend" id="{1CB69F46-0342-FF46-AD68-FC430BD3E999}">
          <p14:sldIdLst>
            <p14:sldId id="260"/>
          </p14:sldIdLst>
        </p14:section>
        <p14:section name="Alignment" id="{94D69642-C3A5-4004-910B-A6BA51ED2C39}">
          <p14:sldIdLst>
            <p14:sldId id="261"/>
          </p14:sldIdLst>
        </p14:section>
        <p14:section name="Scrum" id="{8F9BAA30-D073-6AC9-9111-211D34DE82ED}">
          <p14:sldIdLst>
            <p14:sldId id="262"/>
          </p14:sldIdLst>
        </p14:section>
        <p14:section name="Next" id="{54F326F6-0D2A-5217-DD14-5438298CF543}">
          <p14:sldIdLst>
            <p14:sldId id="263"/>
          </p14:sldIdLst>
        </p14:section>
        <p14:section name="Team" id="{B7EB262E-FD32-2024-F967-6D3ACA569753}">
          <p14:sldIdLst>
            <p14:sldId id="264"/>
          </p14:sldIdLst>
        </p14:section>
        <p14:section name="Bonus" id="{A3AFF282-9959-6A66-7ACE-06839461482D}">
          <p14:sldIdLst>
            <p14:sldId id="265"/>
          </p14:sldIdLst>
        </p14:section>
        <p14:section name="Close" id="{EB44125D-AD5D-A6C7-044B-F4CD16FAF144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6792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We're Team 7. RootBridge helps children keep their heritage language alive. In Sprint 3 we turned our prototype into a complete, deployable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Sprint 1 gave us the look and the learning flow. Sprint 2 built both halves - but deliberately kept them apart.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goal traces back to Sprint 1: the same product, now real. The AI feature answers the hardest question in language learning - am I saying it right?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hook: show one lesson in Japanese, then switch the account to Finnish - same engine, different course. Have it open in a second tab, already logged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design decision: the server never trusts the browser. XP is calculated server-side and claimed lessons are checked against real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intentional deviation we can defend: the admin role duplicated what teachers already do, so we removed it rather than ship a half-built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biggest process fix: we gave every file an owner, and merge conflicts almost disappeared.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valuable next feature is teacher-recorded audio - for Twi there is no browser voice at all, so a real person's voice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BEFORE PRESENTING: these rows must match what each person actually did and what the commit history shows.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hearts system is the one we are proudest of designing: we added two recovery paths because the simple rule would have trapped a beginner at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We are happy to go deeper on the authentication flow, the AI grading, or how four languages run through one lesson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21C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332B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12161520" cy="1920240"/>
          </a:xfrm>
          <a:prstGeom prst="rect">
            <a:avLst/>
          </a:prstGeom>
          <a:solidFill>
            <a:srgbClr val="22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01184"/>
            <a:ext cx="12161520" cy="45720"/>
          </a:xfrm>
          <a:prstGeom prst="rect">
            <a:avLst/>
          </a:prstGeom>
          <a:solidFill>
            <a:srgbClr val="E2A130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PLAIN">
    <p:bg>
      <p:bgPr>
        <a:solidFill>
          <a:srgbClr val="33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E2A130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1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332B5C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18872"/>
            <a:ext cx="1106424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800" b="1" dirty="0">
                <a:solidFill>
                  <a:srgbClr val="FFFDF8"/>
                </a:solidFill>
              </a:defRPr>
            </a:lvl1pPr>
          </a:lstStyle>
          <a:p>
            <a:pPr marL="0" indent="0">
              <a:buNone/>
            </a:pPr>
            <a:r>
              <a:rPr lang="en-US" sz="2800" b="1" dirty="0">
                <a:solidFill>
                  <a:srgbClr val="FFFDF8"/>
                </a:solidFill>
              </a:rPr>
              <a:t> 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95A"/>
                </a:solidFill>
              </a:rPr>
              <a:t>RootBridge · Sprint 3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11247120" y="6355080"/>
            <a:ext cx="411480" cy="320040"/>
          </a:xfrm>
          <a:prstGeom prst="rect">
            <a:avLst/>
          </a:prstGeom>
          <a:solidFill>
            <a:srgbClr val="FAF1E2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uprim-rijal.github.io/Elearn-WebProject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uprim-rijal.github.io/Elearn-WebProject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rootbridge.onrender.com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prim-rijal/RootBridge-Sprint3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bg1"/>
                </a:solidFill>
              </a:rPr>
              <a:t>RootBridge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2514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E2A130"/>
                </a:solidFill>
              </a:rPr>
              <a:t>Heritage language and culture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868680" y="3154680"/>
            <a:ext cx="1463040" cy="41148"/>
          </a:xfrm>
          <a:prstGeom prst="rect">
            <a:avLst/>
          </a:prstGeom>
          <a:solidFill>
            <a:srgbClr val="C15B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3832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Sprint 3 · Team 7</a:t>
            </a:r>
            <a:endParaRPr lang="en-US" sz="2000" dirty="0"/>
          </a:p>
        </p:txBody>
      </p:sp>
      <p:sp>
        <p:nvSpPr>
          <p:cNvPr id="6" name="member-Suprim"/>
          <p:cNvSpPr/>
          <p:nvPr/>
        </p:nvSpPr>
        <p:spPr>
          <a:xfrm>
            <a:off x="868680" y="3977640"/>
            <a:ext cx="1783080" cy="530352"/>
          </a:xfrm>
          <a:prstGeom prst="roundRect">
            <a:avLst>
              <a:gd name="adj" fmla="val 50000"/>
            </a:avLst>
          </a:prstGeom>
          <a:solidFill>
            <a:srgbClr val="221C42"/>
          </a:solidFill>
          <a:ln w="12700">
            <a:solidFill>
              <a:srgbClr val="E2A1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397764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Suprim</a:t>
            </a:r>
            <a:endParaRPr lang="en-US" sz="1400" dirty="0"/>
          </a:p>
        </p:txBody>
      </p:sp>
      <p:sp>
        <p:nvSpPr>
          <p:cNvPr id="8" name="member-Hairaat"/>
          <p:cNvSpPr/>
          <p:nvPr/>
        </p:nvSpPr>
        <p:spPr>
          <a:xfrm>
            <a:off x="2862072" y="3977640"/>
            <a:ext cx="1783080" cy="530352"/>
          </a:xfrm>
          <a:prstGeom prst="roundRect">
            <a:avLst>
              <a:gd name="adj" fmla="val 50000"/>
            </a:avLst>
          </a:prstGeom>
          <a:solidFill>
            <a:srgbClr val="221C42"/>
          </a:solidFill>
          <a:ln w="12700">
            <a:solidFill>
              <a:srgbClr val="E2A13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62072" y="397764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Hairaat</a:t>
            </a:r>
            <a:endParaRPr lang="en-US" sz="1400" dirty="0"/>
          </a:p>
        </p:txBody>
      </p:sp>
      <p:sp>
        <p:nvSpPr>
          <p:cNvPr id="10" name="member-Biplov"/>
          <p:cNvSpPr/>
          <p:nvPr/>
        </p:nvSpPr>
        <p:spPr>
          <a:xfrm>
            <a:off x="4855464" y="3977640"/>
            <a:ext cx="1783080" cy="530352"/>
          </a:xfrm>
          <a:prstGeom prst="roundRect">
            <a:avLst>
              <a:gd name="adj" fmla="val 50000"/>
            </a:avLst>
          </a:prstGeom>
          <a:solidFill>
            <a:srgbClr val="221C42"/>
          </a:solidFill>
          <a:ln w="12700">
            <a:solidFill>
              <a:srgbClr val="E2A1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55464" y="397764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Biplov</a:t>
            </a:r>
            <a:endParaRPr lang="en-US" sz="1400" dirty="0"/>
          </a:p>
        </p:txBody>
      </p:sp>
      <p:sp>
        <p:nvSpPr>
          <p:cNvPr id="12" name="member-Navin"/>
          <p:cNvSpPr/>
          <p:nvPr/>
        </p:nvSpPr>
        <p:spPr>
          <a:xfrm>
            <a:off x="6848856" y="3977640"/>
            <a:ext cx="1783080" cy="530352"/>
          </a:xfrm>
          <a:prstGeom prst="roundRect">
            <a:avLst>
              <a:gd name="adj" fmla="val 50000"/>
            </a:avLst>
          </a:prstGeom>
          <a:solidFill>
            <a:srgbClr val="221C42"/>
          </a:solidFill>
          <a:ln w="12700">
            <a:solidFill>
              <a:srgbClr val="E2A1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48856" y="397764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Navin</a:t>
            </a:r>
            <a:endParaRPr lang="en-US" sz="1400" dirty="0"/>
          </a:p>
        </p:txBody>
      </p:sp>
      <p:sp>
        <p:nvSpPr>
          <p:cNvPr id="14" name="member-Anubhav"/>
          <p:cNvSpPr/>
          <p:nvPr/>
        </p:nvSpPr>
        <p:spPr>
          <a:xfrm>
            <a:off x="8842248" y="3977640"/>
            <a:ext cx="1783080" cy="530352"/>
          </a:xfrm>
          <a:prstGeom prst="roundRect">
            <a:avLst>
              <a:gd name="adj" fmla="val 50000"/>
            </a:avLst>
          </a:prstGeom>
          <a:solidFill>
            <a:srgbClr val="221C42"/>
          </a:solidFill>
          <a:ln w="12700">
            <a:solidFill>
              <a:srgbClr val="E2A13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842248" y="397764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Anubhav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577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695A"/>
                </a:solidFill>
              </a:rPr>
              <a:t>Web Development · October 2026 · Metropolia UAS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55778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E2A130"/>
                </a:solidFill>
              </a:rPr>
              <a:t>4 languages · 536 lessons · one deployable app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18872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DF8"/>
                </a:solidFill>
              </a:rPr>
              <a:t>Where we started</a:t>
            </a:r>
            <a:endParaRPr lang="en-US" sz="2800" dirty="0"/>
          </a:p>
        </p:txBody>
      </p:sp>
      <p:sp>
        <p:nvSpPr>
          <p:cNvPr id="3" name="prototype-frame"/>
          <p:cNvSpPr/>
          <p:nvPr/>
        </p:nvSpPr>
        <p:spPr>
          <a:xfrm>
            <a:off x="548640" y="1143000"/>
            <a:ext cx="4846320" cy="4480560"/>
          </a:xfrm>
          <a:prstGeom prst="roundRect">
            <a:avLst>
              <a:gd name="adj" fmla="val 2449"/>
            </a:avLst>
          </a:prstGeom>
          <a:solidFill>
            <a:srgbClr val="FFFDF8"/>
          </a:solidFill>
          <a:ln w="9525">
            <a:solidFill>
              <a:srgbClr val="7A695A">
                <a:alpha val="30000"/>
              </a:srgbClr>
            </a:solidFill>
            <a:prstDash val="solid"/>
          </a:ln>
          <a:effectLst>
            <a:outerShdw blurRad="127000" dist="508" dir="5400000" algn="bl" rotWithShape="0">
              <a:srgbClr val="241A12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Sprint 1 prototype</a:t>
            </a:r>
            <a:endParaRPr lang="en-US" sz="1500" dirty="0"/>
          </a:p>
        </p:txBody>
      </p:sp>
      <p:sp>
        <p:nvSpPr>
          <p:cNvPr id="5" name="screenshot-slot"/>
          <p:cNvSpPr/>
          <p:nvPr/>
        </p:nvSpPr>
        <p:spPr>
          <a:xfrm>
            <a:off x="777240" y="1828800"/>
            <a:ext cx="4389120" cy="3566160"/>
          </a:xfrm>
          <a:prstGeom prst="roundRect">
            <a:avLst>
              <a:gd name="adj" fmla="val 2564"/>
            </a:avLst>
          </a:prstGeom>
          <a:solidFill>
            <a:srgbClr val="332B5C"/>
          </a:solidFill>
          <a:ln w="12700">
            <a:solidFill>
              <a:srgbClr val="332B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5866" y="3383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A130"/>
                </a:solidFill>
                <a:hlinkClick r:id="rId3"/>
              </a:rPr>
              <a:t>Demo Link</a:t>
            </a:r>
            <a:endParaRPr lang="en-US" sz="1300" dirty="0"/>
          </a:p>
        </p:txBody>
      </p:sp>
      <p:sp>
        <p:nvSpPr>
          <p:cNvPr id="7" name="recap-0"/>
          <p:cNvSpPr/>
          <p:nvPr/>
        </p:nvSpPr>
        <p:spPr>
          <a:xfrm>
            <a:off x="5669280" y="1143000"/>
            <a:ext cx="5943600" cy="13716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9525">
            <a:solidFill>
              <a:srgbClr val="7A695A">
                <a:alpha val="30000"/>
              </a:srgbClr>
            </a:solidFill>
            <a:prstDash val="solid"/>
          </a:ln>
          <a:effectLst>
            <a:outerShdw blurRad="127000" dist="508" dir="5400000" algn="bl" rotWithShape="0">
              <a:srgbClr val="241A12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0" y="1143000"/>
            <a:ext cx="64008" cy="1371600"/>
          </a:xfrm>
          <a:prstGeom prst="rect">
            <a:avLst/>
          </a:prstGeom>
          <a:solidFill>
            <a:srgbClr val="332B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0" y="134416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The vision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176479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One app where a child learns their heritage language and a parent follows the progress.</a:t>
            </a:r>
            <a:endParaRPr lang="en-US" sz="1250" dirty="0"/>
          </a:p>
        </p:txBody>
      </p:sp>
      <p:sp>
        <p:nvSpPr>
          <p:cNvPr id="11" name="recap-1"/>
          <p:cNvSpPr/>
          <p:nvPr/>
        </p:nvSpPr>
        <p:spPr>
          <a:xfrm>
            <a:off x="5669280" y="2679192"/>
            <a:ext cx="5943600" cy="13716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9525">
            <a:solidFill>
              <a:srgbClr val="7A695A">
                <a:alpha val="30000"/>
              </a:srgbClr>
            </a:solidFill>
            <a:prstDash val="solid"/>
          </a:ln>
          <a:effectLst>
            <a:outerShdw blurRad="127000" dist="508" dir="5400000" algn="bl" rotWithShape="0">
              <a:srgbClr val="241A12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0" y="2679192"/>
            <a:ext cx="64008" cy="1371600"/>
          </a:xfrm>
          <a:prstGeom prst="rect">
            <a:avLst/>
          </a:prstGeom>
          <a:solidFill>
            <a:srgbClr val="C15B3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0" y="28803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The prototype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3300984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Cultural Passport, lesson flow, child and parent views, Nepali content.</a:t>
            </a:r>
            <a:endParaRPr lang="en-US" sz="1250" dirty="0"/>
          </a:p>
        </p:txBody>
      </p:sp>
      <p:sp>
        <p:nvSpPr>
          <p:cNvPr id="15" name="recap-2"/>
          <p:cNvSpPr/>
          <p:nvPr/>
        </p:nvSpPr>
        <p:spPr>
          <a:xfrm>
            <a:off x="5669280" y="4215384"/>
            <a:ext cx="5943600" cy="13716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9525">
            <a:solidFill>
              <a:srgbClr val="7A695A">
                <a:alpha val="30000"/>
              </a:srgbClr>
            </a:solidFill>
            <a:prstDash val="solid"/>
          </a:ln>
          <a:effectLst>
            <a:outerShdw blurRad="127000" dist="508" dir="5400000" algn="bl" rotWithShape="0">
              <a:srgbClr val="241A12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0" y="4215384"/>
            <a:ext cx="64008" cy="1371600"/>
          </a:xfrm>
          <a:prstGeom prst="rect">
            <a:avLst/>
          </a:prstGeom>
          <a:solidFill>
            <a:srgbClr val="E2A13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0" y="441655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Sprint 2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4837176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React frontend and Express backend - built separately, mock API, simulated login.</a:t>
            </a:r>
            <a:endParaRPr lang="en-US" sz="125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18872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DF8"/>
                </a:solidFill>
              </a:rPr>
              <a:t>Sprint 3 goals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Our Sprint 3 Goal:  </a:t>
            </a:r>
            <a:r>
              <a:rPr lang="en-US" sz="1700" i="1" dirty="0">
                <a:solidFill>
                  <a:schemeClr val="accent2"/>
                </a:solidFill>
              </a:rPr>
              <a:t>turn two separate halves into one deployable product.</a:t>
            </a:r>
            <a:endParaRPr lang="en-US" sz="1700" dirty="0"/>
          </a:p>
        </p:txBody>
      </p:sp>
      <p:sp>
        <p:nvSpPr>
          <p:cNvPr id="4" name="goal-Frontend"/>
          <p:cNvSpPr/>
          <p:nvPr/>
        </p:nvSpPr>
        <p:spPr>
          <a:xfrm>
            <a:off x="548640" y="1691640"/>
            <a:ext cx="3529584" cy="3291840"/>
          </a:xfrm>
          <a:prstGeom prst="roundRect">
            <a:avLst>
              <a:gd name="adj" fmla="val 3333"/>
            </a:avLst>
          </a:prstGeom>
          <a:solidFill>
            <a:srgbClr val="FFFDF8"/>
          </a:solidFill>
          <a:ln w="9525">
            <a:solidFill>
              <a:srgbClr val="7A695A">
                <a:alpha val="30000"/>
              </a:srgbClr>
            </a:solidFill>
            <a:prstDash val="solid"/>
          </a:ln>
          <a:effectLst>
            <a:outerShdw blurRad="127000" dist="508" dir="5400000" algn="bl" rotWithShape="0">
              <a:srgbClr val="241A12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3529584" cy="73152"/>
          </a:xfrm>
          <a:prstGeom prst="rect">
            <a:avLst/>
          </a:prstGeom>
          <a:solidFill>
            <a:srgbClr val="332B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3852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Frontend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50592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Replace the mock API with real calls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Real auth state, protected routes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Responsive and accessible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Four languages in one interface</a:t>
            </a:r>
            <a:endParaRPr lang="en-US" sz="1300" dirty="0"/>
          </a:p>
        </p:txBody>
      </p:sp>
      <p:sp>
        <p:nvSpPr>
          <p:cNvPr id="8" name="goal-Backend"/>
          <p:cNvSpPr/>
          <p:nvPr/>
        </p:nvSpPr>
        <p:spPr>
          <a:xfrm>
            <a:off x="4315968" y="1691640"/>
            <a:ext cx="3529584" cy="3291840"/>
          </a:xfrm>
          <a:prstGeom prst="roundRect">
            <a:avLst>
              <a:gd name="adj" fmla="val 3333"/>
            </a:avLst>
          </a:prstGeom>
          <a:solidFill>
            <a:srgbClr val="FFFDF8"/>
          </a:solidFill>
          <a:ln w="9525">
            <a:solidFill>
              <a:srgbClr val="7A695A">
                <a:alpha val="30000"/>
              </a:srgbClr>
            </a:solidFill>
            <a:prstDash val="solid"/>
          </a:ln>
          <a:effectLst>
            <a:outerShdw blurRad="127000" dist="508" dir="5400000" algn="bl" rotWithShape="0">
              <a:srgbClr val="241A12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15968" y="1691640"/>
            <a:ext cx="3529584" cy="73152"/>
          </a:xfrm>
          <a:prstGeom prst="rect">
            <a:avLst/>
          </a:prstGeom>
          <a:solidFill>
            <a:srgbClr val="C15B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90288" y="193852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Backend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590288" y="2450592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MongoDB with Mongoose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bcrypt passwords, JWT login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Role-based access on every route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Tested API, ready to deploy</a:t>
            </a:r>
            <a:endParaRPr lang="en-US" sz="1300" dirty="0"/>
          </a:p>
        </p:txBody>
      </p:sp>
      <p:sp>
        <p:nvSpPr>
          <p:cNvPr id="12" name="goal-AI feature"/>
          <p:cNvSpPr/>
          <p:nvPr/>
        </p:nvSpPr>
        <p:spPr>
          <a:xfrm>
            <a:off x="8083296" y="1691640"/>
            <a:ext cx="3529584" cy="3291840"/>
          </a:xfrm>
          <a:prstGeom prst="roundRect">
            <a:avLst>
              <a:gd name="adj" fmla="val 3333"/>
            </a:avLst>
          </a:prstGeom>
          <a:solidFill>
            <a:srgbClr val="FFFDF8"/>
          </a:solidFill>
          <a:ln w="9525">
            <a:solidFill>
              <a:srgbClr val="7A695A">
                <a:alpha val="30000"/>
              </a:srgbClr>
            </a:solidFill>
            <a:prstDash val="solid"/>
          </a:ln>
          <a:effectLst>
            <a:outerShdw blurRad="127000" dist="508" dir="5400000" algn="bl" rotWithShape="0">
              <a:srgbClr val="241A12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83296" y="1691640"/>
            <a:ext cx="3529584" cy="73152"/>
          </a:xfrm>
          <a:prstGeom prst="rect">
            <a:avLst/>
          </a:prstGeom>
          <a:solidFill>
            <a:srgbClr val="E2A13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57616" y="193852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AI feature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357616" y="2450592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Strict pronunciation coaching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Four verdicts, one concrete tip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Honest fallback with no API key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Never blocks a lesson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2578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accent6"/>
                </a:solidFill>
              </a:rPr>
              <a:t>Everything below was built on the Sprint 2 code base - no rewrite, no change of direction.</a:t>
            </a:r>
            <a:endParaRPr lang="en-US" sz="1400" dirty="0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18872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DF8"/>
                </a:solidFill>
              </a:rPr>
              <a:t>Frontend progress</a:t>
            </a:r>
            <a:endParaRPr lang="en-US" sz="2800" dirty="0"/>
          </a:p>
        </p:txBody>
      </p:sp>
      <p:sp>
        <p:nvSpPr>
          <p:cNvPr id="3" name="stat-languages"/>
          <p:cNvSpPr/>
          <p:nvPr/>
        </p:nvSpPr>
        <p:spPr>
          <a:xfrm>
            <a:off x="548640" y="1051560"/>
            <a:ext cx="2468880" cy="1143000"/>
          </a:xfrm>
          <a:prstGeom prst="roundRect">
            <a:avLst>
              <a:gd name="adj" fmla="val 9600"/>
            </a:avLst>
          </a:prstGeom>
          <a:solidFill>
            <a:srgbClr val="FFFDF8"/>
          </a:solidFill>
          <a:ln w="9525">
            <a:solidFill>
              <a:srgbClr val="7A695A">
                <a:alpha val="30000"/>
              </a:srgbClr>
            </a:solidFill>
            <a:prstDash val="solid"/>
          </a:ln>
          <a:effectLst>
            <a:outerShdw blurRad="127000" dist="508" dir="5400000" algn="bl" rotWithShape="0">
              <a:srgbClr val="241A12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16128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32B5C"/>
                </a:solidFill>
              </a:rPr>
              <a:t>4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2821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accent6"/>
                </a:solidFill>
              </a:rPr>
              <a:t>languages</a:t>
            </a:r>
            <a:endParaRPr lang="en-US" sz="1150" dirty="0"/>
          </a:p>
        </p:txBody>
      </p:sp>
      <p:sp>
        <p:nvSpPr>
          <p:cNvPr id="6" name="stat-lessons"/>
          <p:cNvSpPr/>
          <p:nvPr/>
        </p:nvSpPr>
        <p:spPr>
          <a:xfrm>
            <a:off x="3392424" y="1051560"/>
            <a:ext cx="2468880" cy="1143000"/>
          </a:xfrm>
          <a:prstGeom prst="roundRect">
            <a:avLst>
              <a:gd name="adj" fmla="val 9600"/>
            </a:avLst>
          </a:prstGeom>
          <a:solidFill>
            <a:srgbClr val="FFFDF8"/>
          </a:solidFill>
          <a:ln w="9525">
            <a:solidFill>
              <a:srgbClr val="7A695A">
                <a:alpha val="30000"/>
              </a:srgbClr>
            </a:solidFill>
            <a:prstDash val="solid"/>
          </a:ln>
          <a:effectLst>
            <a:outerShdw blurRad="127000" dist="508" dir="5400000" algn="bl" rotWithShape="0">
              <a:srgbClr val="241A12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392424" y="116128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15B3C"/>
                </a:solidFill>
              </a:rPr>
              <a:t>536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392424" y="172821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accent6"/>
                </a:solidFill>
              </a:rPr>
              <a:t>lessons</a:t>
            </a:r>
            <a:endParaRPr lang="en-US" sz="1150" dirty="0"/>
          </a:p>
        </p:txBody>
      </p:sp>
      <p:sp>
        <p:nvSpPr>
          <p:cNvPr id="9" name="stat-browser checks"/>
          <p:cNvSpPr/>
          <p:nvPr/>
        </p:nvSpPr>
        <p:spPr>
          <a:xfrm>
            <a:off x="6236208" y="1051560"/>
            <a:ext cx="2468880" cy="1143000"/>
          </a:xfrm>
          <a:prstGeom prst="roundRect">
            <a:avLst>
              <a:gd name="adj" fmla="val 9600"/>
            </a:avLst>
          </a:prstGeom>
          <a:solidFill>
            <a:srgbClr val="FFFDF8"/>
          </a:solidFill>
          <a:ln w="9525">
            <a:solidFill>
              <a:srgbClr val="7A695A">
                <a:alpha val="30000"/>
              </a:srgbClr>
            </a:solidFill>
            <a:prstDash val="solid"/>
          </a:ln>
          <a:effectLst>
            <a:outerShdw blurRad="127000" dist="508" dir="5400000" algn="bl" rotWithShape="0">
              <a:srgbClr val="241A12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36208" y="116128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6B4C"/>
                </a:solidFill>
              </a:rPr>
              <a:t>231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236208" y="172821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accent6"/>
                </a:solidFill>
              </a:rPr>
              <a:t>browser checks</a:t>
            </a:r>
            <a:endParaRPr lang="en-US" sz="1150" dirty="0"/>
          </a:p>
        </p:txBody>
      </p:sp>
      <p:sp>
        <p:nvSpPr>
          <p:cNvPr id="12" name="stat-exercise types"/>
          <p:cNvSpPr/>
          <p:nvPr/>
        </p:nvSpPr>
        <p:spPr>
          <a:xfrm>
            <a:off x="9079992" y="1051560"/>
            <a:ext cx="2468880" cy="1143000"/>
          </a:xfrm>
          <a:prstGeom prst="roundRect">
            <a:avLst>
              <a:gd name="adj" fmla="val 9600"/>
            </a:avLst>
          </a:prstGeom>
          <a:solidFill>
            <a:srgbClr val="FFFDF8"/>
          </a:solidFill>
          <a:ln w="9525">
            <a:solidFill>
              <a:srgbClr val="7A695A">
                <a:alpha val="30000"/>
              </a:srgbClr>
            </a:solidFill>
            <a:prstDash val="solid"/>
          </a:ln>
          <a:effectLst>
            <a:outerShdw blurRad="127000" dist="508" dir="5400000" algn="bl" rotWithShape="0">
              <a:srgbClr val="241A12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079992" y="116128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2A130"/>
                </a:solidFill>
              </a:rPr>
              <a:t>9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9079992" y="172821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accent6"/>
                </a:solidFill>
              </a:rPr>
              <a:t>exercise types</a:t>
            </a:r>
            <a:endParaRPr lang="en-US" sz="1150" dirty="0"/>
          </a:p>
        </p:txBody>
      </p:sp>
      <p:sp>
        <p:nvSpPr>
          <p:cNvPr id="15" name="fe-0"/>
          <p:cNvSpPr/>
          <p:nvPr/>
        </p:nvSpPr>
        <p:spPr>
          <a:xfrm>
            <a:off x="548640" y="2423160"/>
            <a:ext cx="3529584" cy="13716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9525">
            <a:solidFill>
              <a:srgbClr val="7A695A">
                <a:alpha val="30000"/>
              </a:srgbClr>
            </a:solidFill>
            <a:prstDash val="solid"/>
          </a:ln>
          <a:effectLst>
            <a:outerShdw blurRad="127000" dist="508" dir="5400000" algn="bl" rotWithShape="0">
              <a:srgbClr val="241A12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04672" y="26060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LessonEngine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" y="3017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Nine exercise types, chosen by track and lesson phase</a:t>
            </a:r>
            <a:endParaRPr lang="en-US" sz="1200" dirty="0"/>
          </a:p>
        </p:txBody>
      </p:sp>
      <p:sp>
        <p:nvSpPr>
          <p:cNvPr id="18" name="fe-1"/>
          <p:cNvSpPr/>
          <p:nvPr/>
        </p:nvSpPr>
        <p:spPr>
          <a:xfrm>
            <a:off x="4315968" y="2423160"/>
            <a:ext cx="3529584" cy="13716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9525">
            <a:solidFill>
              <a:srgbClr val="7A695A">
                <a:alpha val="30000"/>
              </a:srgbClr>
            </a:solidFill>
            <a:prstDash val="solid"/>
          </a:ln>
          <a:effectLst>
            <a:outerShdw blurRad="127000" dist="508" dir="5400000" algn="bl" rotWithShape="0">
              <a:srgbClr val="241A12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572000" y="26060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AuthContext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3017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One source of truth for the session, restored on refresh</a:t>
            </a:r>
            <a:endParaRPr lang="en-US" sz="1200" dirty="0"/>
          </a:p>
        </p:txBody>
      </p:sp>
      <p:sp>
        <p:nvSpPr>
          <p:cNvPr id="21" name="fe-2"/>
          <p:cNvSpPr/>
          <p:nvPr/>
        </p:nvSpPr>
        <p:spPr>
          <a:xfrm>
            <a:off x="8083296" y="2423160"/>
            <a:ext cx="3529584" cy="13716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9525">
            <a:solidFill>
              <a:srgbClr val="7A695A">
                <a:alpha val="30000"/>
              </a:srgbClr>
            </a:solidFill>
            <a:prstDash val="solid"/>
          </a:ln>
          <a:effectLst>
            <a:outerShdw blurRad="127000" dist="508" dir="5400000" algn="bl" rotWithShape="0">
              <a:srgbClr val="241A12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339328" y="26060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Language Hub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339328" y="3017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Pick a language once - the whole app follows it</a:t>
            </a:r>
            <a:endParaRPr lang="en-US" sz="1200" dirty="0"/>
          </a:p>
        </p:txBody>
      </p:sp>
      <p:sp>
        <p:nvSpPr>
          <p:cNvPr id="24" name="fe-strengths"/>
          <p:cNvSpPr/>
          <p:nvPr/>
        </p:nvSpPr>
        <p:spPr>
          <a:xfrm>
            <a:off x="548640" y="397764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 w="9525">
            <a:solidFill>
              <a:srgbClr val="7A695A">
                <a:alpha val="30000"/>
              </a:srgbClr>
            </a:solidFill>
            <a:prstDash val="solid"/>
          </a:ln>
          <a:effectLst>
            <a:outerShdw blurRad="127000" dist="508" dir="5400000" algn="bl" rotWithShape="0">
              <a:srgbClr val="241A12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3977640"/>
            <a:ext cx="64008" cy="1645920"/>
          </a:xfrm>
          <a:prstGeom prst="rect">
            <a:avLst/>
          </a:prstGeom>
          <a:solidFill>
            <a:srgbClr val="2E6B4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413308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Strengths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45262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Clean component structure, shared state via Context</a:t>
            </a:r>
            <a:endParaRPr lang="en-US" sz="1200" dirty="0"/>
          </a:p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Responsive down to 390 px</a:t>
            </a:r>
            <a:endParaRPr lang="en-US" sz="1200" dirty="0"/>
          </a:p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Keyboard and screen-reader support</a:t>
            </a:r>
            <a:endParaRPr lang="en-US" sz="1200" dirty="0"/>
          </a:p>
        </p:txBody>
      </p:sp>
      <p:sp>
        <p:nvSpPr>
          <p:cNvPr id="28" name="fe-improve"/>
          <p:cNvSpPr/>
          <p:nvPr/>
        </p:nvSpPr>
        <p:spPr>
          <a:xfrm>
            <a:off x="6172200" y="397764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 w="9525">
            <a:solidFill>
              <a:srgbClr val="7A695A">
                <a:alpha val="30000"/>
              </a:srgbClr>
            </a:solidFill>
            <a:prstDash val="solid"/>
          </a:ln>
          <a:effectLst>
            <a:outerShdw blurRad="127000" dist="508" dir="5400000" algn="bl" rotWithShape="0">
              <a:srgbClr val="241A12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72200" y="3977640"/>
            <a:ext cx="64008" cy="1645920"/>
          </a:xfrm>
          <a:prstGeom prst="rect">
            <a:avLst/>
          </a:prstGeom>
          <a:solidFill>
            <a:srgbClr val="C15B3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46520" y="413308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To improve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446520" y="45262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LessonEngine is large - split into per-exercise components</a:t>
            </a:r>
            <a:endParaRPr lang="en-US" sz="1200" dirty="0"/>
          </a:p>
          <a:p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More tests for edge cases in the UI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18872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DF8"/>
                </a:solidFill>
              </a:rPr>
              <a:t>Backend progress</a:t>
            </a:r>
            <a:endParaRPr lang="en-US" sz="2800" dirty="0"/>
          </a:p>
        </p:txBody>
      </p:sp>
      <p:sp>
        <p:nvSpPr>
          <p:cNvPr id="3" name="api-card"/>
          <p:cNvSpPr/>
          <p:nvPr/>
        </p:nvSpPr>
        <p:spPr>
          <a:xfrm>
            <a:off x="548640" y="1051560"/>
            <a:ext cx="6035040" cy="3108960"/>
          </a:xfrm>
          <a:prstGeom prst="roundRect">
            <a:avLst>
              <a:gd name="adj" fmla="val 3529"/>
            </a:avLst>
          </a:prstGeom>
          <a:solidFill>
            <a:srgbClr val="FFFDF8"/>
          </a:solidFill>
          <a:ln w="9525">
            <a:solidFill>
              <a:srgbClr val="7A695A">
                <a:alpha val="30000"/>
              </a:srgbClr>
            </a:solidFill>
            <a:prstDash val="solid"/>
          </a:ln>
          <a:effectLst>
            <a:outerShdw blurRad="127000" dist="508" dir="5400000" algn="bl" rotWithShape="0">
              <a:srgbClr val="241A12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20700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The API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Auth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6916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signup · login · me · forgot-password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671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Learning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21671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/api/tracks · /api/lessons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21671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content and progress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6426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Hearts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264261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/api/progress/lives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264261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lose · earn · refill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1181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Classes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874520" y="311810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/api/groups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389120" y="311810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join · requests · homework · materials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593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AI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359359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/api/pronunciation/grade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35935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strict speech grading</a:t>
            </a:r>
            <a:endParaRPr lang="en-US" sz="1100" dirty="0"/>
          </a:p>
        </p:txBody>
      </p:sp>
      <p:sp>
        <p:nvSpPr>
          <p:cNvPr id="20" name="ai-card"/>
          <p:cNvSpPr/>
          <p:nvPr/>
        </p:nvSpPr>
        <p:spPr>
          <a:xfrm>
            <a:off x="6766560" y="1051560"/>
            <a:ext cx="4846320" cy="3108960"/>
          </a:xfrm>
          <a:prstGeom prst="roundRect">
            <a:avLst>
              <a:gd name="adj" fmla="val 3529"/>
            </a:avLst>
          </a:prstGeom>
          <a:solidFill>
            <a:srgbClr val="FFFDF8"/>
          </a:solidFill>
          <a:ln w="9525">
            <a:solidFill>
              <a:srgbClr val="7A695A">
                <a:alpha val="30000"/>
              </a:srgbClr>
            </a:solidFill>
            <a:prstDash val="solid"/>
          </a:ln>
          <a:effectLst>
            <a:outerShdw blurRad="127000" dist="508" dir="5400000" algn="bl" rotWithShape="0">
              <a:srgbClr val="241A12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040880" y="12070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How AI grading works</a:t>
            </a:r>
            <a:endParaRPr lang="en-US" sz="1600" dirty="0"/>
          </a:p>
        </p:txBody>
      </p:sp>
      <p:sp>
        <p:nvSpPr>
          <p:cNvPr id="22" name="step-0"/>
          <p:cNvSpPr/>
          <p:nvPr/>
        </p:nvSpPr>
        <p:spPr>
          <a:xfrm>
            <a:off x="7040880" y="1709928"/>
            <a:ext cx="274320" cy="274320"/>
          </a:xfrm>
          <a:prstGeom prst="ellipse">
            <a:avLst/>
          </a:prstGeom>
          <a:solidFill>
            <a:srgbClr val="E2A13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040880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406640" y="169164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Browser hears the learner and sends the TEXT (never audio)</a:t>
            </a:r>
            <a:endParaRPr lang="en-US" sz="1150" dirty="0"/>
          </a:p>
        </p:txBody>
      </p:sp>
      <p:sp>
        <p:nvSpPr>
          <p:cNvPr id="25" name="step-1"/>
          <p:cNvSpPr/>
          <p:nvPr/>
        </p:nvSpPr>
        <p:spPr>
          <a:xfrm>
            <a:off x="7040880" y="2286000"/>
            <a:ext cx="274320" cy="274320"/>
          </a:xfrm>
          <a:prstGeom prst="ellipse">
            <a:avLst/>
          </a:prstGeom>
          <a:solidFill>
            <a:srgbClr val="E2A13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04088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406640" y="226771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Server asks Gemini with a strict prompt</a:t>
            </a:r>
            <a:endParaRPr lang="en-US" sz="1150" dirty="0"/>
          </a:p>
        </p:txBody>
      </p:sp>
      <p:sp>
        <p:nvSpPr>
          <p:cNvPr id="28" name="step-2"/>
          <p:cNvSpPr/>
          <p:nvPr/>
        </p:nvSpPr>
        <p:spPr>
          <a:xfrm>
            <a:off x="7040880" y="2862072"/>
            <a:ext cx="274320" cy="274320"/>
          </a:xfrm>
          <a:prstGeom prst="ellipse">
            <a:avLst/>
          </a:prstGeom>
          <a:solidFill>
            <a:srgbClr val="E2A13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040880" y="2862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2843784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Four verdicts + one concrete tip</a:t>
            </a:r>
            <a:endParaRPr lang="en-US" sz="1150" dirty="0"/>
          </a:p>
        </p:txBody>
      </p:sp>
      <p:sp>
        <p:nvSpPr>
          <p:cNvPr id="31" name="step-3"/>
          <p:cNvSpPr/>
          <p:nvPr/>
        </p:nvSpPr>
        <p:spPr>
          <a:xfrm>
            <a:off x="7040880" y="3438144"/>
            <a:ext cx="274320" cy="274320"/>
          </a:xfrm>
          <a:prstGeom prst="ellipse">
            <a:avLst/>
          </a:prstGeom>
          <a:solidFill>
            <a:srgbClr val="E2A13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040880" y="3438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406640" y="3419856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No key, an error or over 4 seconds -&gt; strict local check</a:t>
            </a:r>
            <a:endParaRPr lang="en-US" sz="1150" dirty="0"/>
          </a:p>
        </p:txBody>
      </p:sp>
      <p:sp>
        <p:nvSpPr>
          <p:cNvPr id="34" name="stat-backend tests"/>
          <p:cNvSpPr/>
          <p:nvPr/>
        </p:nvSpPr>
        <p:spPr>
          <a:xfrm>
            <a:off x="548640" y="4343400"/>
            <a:ext cx="2468880" cy="1143000"/>
          </a:xfrm>
          <a:prstGeom prst="roundRect">
            <a:avLst>
              <a:gd name="adj" fmla="val 9600"/>
            </a:avLst>
          </a:prstGeom>
          <a:solidFill>
            <a:srgbClr val="FFFDF8"/>
          </a:solidFill>
          <a:ln w="9525">
            <a:solidFill>
              <a:srgbClr val="7A695A">
                <a:alpha val="30000"/>
              </a:srgbClr>
            </a:solidFill>
            <a:prstDash val="solid"/>
          </a:ln>
          <a:effectLst>
            <a:outerShdw blurRad="127000" dist="508" dir="5400000" algn="bl" rotWithShape="0">
              <a:srgbClr val="241A12">
                <a:alpha val="1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548640" y="445312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6B4C"/>
                </a:solidFill>
              </a:rPr>
              <a:t>94</a:t>
            </a:r>
            <a:endParaRPr lang="en-US" sz="34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02005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accent6"/>
                </a:solidFill>
              </a:rPr>
              <a:t>backend tests</a:t>
            </a:r>
            <a:endParaRPr lang="en-US" sz="1150" dirty="0"/>
          </a:p>
        </p:txBody>
      </p:sp>
      <p:sp>
        <p:nvSpPr>
          <p:cNvPr id="37" name="stat-Postman checks"/>
          <p:cNvSpPr/>
          <p:nvPr/>
        </p:nvSpPr>
        <p:spPr>
          <a:xfrm>
            <a:off x="3392424" y="4343400"/>
            <a:ext cx="2468880" cy="1143000"/>
          </a:xfrm>
          <a:prstGeom prst="roundRect">
            <a:avLst>
              <a:gd name="adj" fmla="val 9600"/>
            </a:avLst>
          </a:prstGeom>
          <a:solidFill>
            <a:srgbClr val="FFFDF8"/>
          </a:solidFill>
          <a:ln w="9525">
            <a:solidFill>
              <a:srgbClr val="7A695A">
                <a:alpha val="30000"/>
              </a:srgbClr>
            </a:solidFill>
            <a:prstDash val="solid"/>
          </a:ln>
          <a:effectLst>
            <a:outerShdw blurRad="127000" dist="508" dir="5400000" algn="bl" rotWithShape="0">
              <a:srgbClr val="241A12">
                <a:alpha val="10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3392424" y="445312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32B5C"/>
                </a:solidFill>
              </a:rPr>
              <a:t>195</a:t>
            </a:r>
            <a:endParaRPr lang="en-US" sz="3400" dirty="0"/>
          </a:p>
        </p:txBody>
      </p:sp>
      <p:sp>
        <p:nvSpPr>
          <p:cNvPr id="39" name="Text 37"/>
          <p:cNvSpPr txBox="1"/>
          <p:nvPr/>
        </p:nvSpPr>
        <p:spPr>
          <a:xfrm>
            <a:off x="3392424" y="502005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accent6"/>
                </a:solidFill>
              </a:rPr>
              <a:t>Postman checks</a:t>
            </a:r>
            <a:endParaRPr lang="en-US" sz="1150" dirty="0"/>
          </a:p>
        </p:txBody>
      </p:sp>
      <p:sp>
        <p:nvSpPr>
          <p:cNvPr id="40" name="stat-roles enforced"/>
          <p:cNvSpPr/>
          <p:nvPr/>
        </p:nvSpPr>
        <p:spPr>
          <a:xfrm>
            <a:off x="6236208" y="4343400"/>
            <a:ext cx="2468880" cy="1143000"/>
          </a:xfrm>
          <a:prstGeom prst="roundRect">
            <a:avLst>
              <a:gd name="adj" fmla="val 9600"/>
            </a:avLst>
          </a:prstGeom>
          <a:solidFill>
            <a:srgbClr val="FFFDF8"/>
          </a:solidFill>
          <a:ln w="9525">
            <a:solidFill>
              <a:srgbClr val="7A695A">
                <a:alpha val="30000"/>
              </a:srgbClr>
            </a:solidFill>
            <a:prstDash val="solid"/>
          </a:ln>
          <a:effectLst>
            <a:outerShdw blurRad="127000" dist="508" dir="5400000" algn="bl" rotWithShape="0">
              <a:srgbClr val="241A12">
                <a:alpha val="10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6236208" y="445312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15B3C"/>
                </a:solidFill>
              </a:rPr>
              <a:t>3</a:t>
            </a:r>
            <a:endParaRPr lang="en-US" sz="3400" dirty="0"/>
          </a:p>
        </p:txBody>
      </p:sp>
      <p:sp>
        <p:nvSpPr>
          <p:cNvPr id="42" name="Text 40"/>
          <p:cNvSpPr txBox="1"/>
          <p:nvPr/>
        </p:nvSpPr>
        <p:spPr>
          <a:xfrm>
            <a:off x="6236208" y="502005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accent6"/>
                </a:solidFill>
              </a:rPr>
              <a:t>roles enforced</a:t>
            </a:r>
            <a:endParaRPr lang="en-US" sz="1150" dirty="0"/>
          </a:p>
        </p:txBody>
      </p:sp>
      <p:sp>
        <p:nvSpPr>
          <p:cNvPr id="43" name="stat-known vulnerabilities"/>
          <p:cNvSpPr/>
          <p:nvPr/>
        </p:nvSpPr>
        <p:spPr>
          <a:xfrm>
            <a:off x="9079992" y="4343400"/>
            <a:ext cx="2468880" cy="1143000"/>
          </a:xfrm>
          <a:prstGeom prst="roundRect">
            <a:avLst>
              <a:gd name="adj" fmla="val 9600"/>
            </a:avLst>
          </a:prstGeom>
          <a:solidFill>
            <a:srgbClr val="FFFDF8"/>
          </a:solidFill>
          <a:ln w="9525">
            <a:solidFill>
              <a:srgbClr val="7A695A">
                <a:alpha val="30000"/>
              </a:srgbClr>
            </a:solidFill>
            <a:prstDash val="solid"/>
          </a:ln>
          <a:effectLst>
            <a:outerShdw blurRad="127000" dist="508" dir="5400000" algn="bl" rotWithShape="0">
              <a:srgbClr val="241A12">
                <a:alpha val="10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9079992" y="445312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6B4C"/>
                </a:solidFill>
              </a:rPr>
              <a:t>0</a:t>
            </a:r>
            <a:endParaRPr lang="en-US" sz="3400" dirty="0"/>
          </a:p>
        </p:txBody>
      </p:sp>
      <p:sp>
        <p:nvSpPr>
          <p:cNvPr id="45" name="Text 43"/>
          <p:cNvSpPr txBox="1"/>
          <p:nvPr/>
        </p:nvSpPr>
        <p:spPr>
          <a:xfrm>
            <a:off x="9079992" y="502005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accent6"/>
                </a:solidFill>
              </a:rPr>
              <a:t>known vulnerabilities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6"/>
                </a:solidFill>
              </a:rPr>
              <a:t>Strengths: progress cannot be faked (server computes XP) · files stored in MongoDB    |    To improve: password-reset emails · token in a cookie</a:t>
            </a:r>
            <a:endParaRPr lang="en-US" sz="1150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Still the product we designed</a:t>
            </a:r>
            <a:endParaRPr lang="en-US" sz="3200" dirty="0"/>
          </a:p>
        </p:txBody>
      </p:sp>
      <p:sp>
        <p:nvSpPr>
          <p:cNvPr id="3" name="align-0"/>
          <p:cNvSpPr/>
          <p:nvPr/>
        </p:nvSpPr>
        <p:spPr>
          <a:xfrm>
            <a:off x="640080" y="137160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221C42"/>
          </a:solidFill>
          <a:ln w="15875">
            <a:solidFill>
              <a:srgbClr val="E2A1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6112" y="15361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A130"/>
                </a:solidFill>
              </a:rPr>
              <a:t>Same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193852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bg1"/>
                </a:solidFill>
              </a:rPr>
              <a:t>Cultural Passport · child and parent views · lesson flow · colours and typography</a:t>
            </a:r>
            <a:endParaRPr lang="en-US" sz="1200" dirty="0"/>
          </a:p>
        </p:txBody>
      </p:sp>
      <p:sp>
        <p:nvSpPr>
          <p:cNvPr id="6" name="align-1"/>
          <p:cNvSpPr/>
          <p:nvPr/>
        </p:nvSpPr>
        <p:spPr>
          <a:xfrm>
            <a:off x="4361688" y="137160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221C42"/>
          </a:solidFill>
          <a:ln w="15875">
            <a:solidFill>
              <a:srgbClr val="FFFD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7720" y="15361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DF8"/>
                </a:solidFill>
              </a:rPr>
              <a:t>Grown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1896517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bg1"/>
                </a:solidFill>
              </a:rPr>
              <a:t>Four languages instead of one · teacher classes · hearts for independent learners</a:t>
            </a:r>
            <a:endParaRPr lang="en-US" sz="1200" dirty="0"/>
          </a:p>
        </p:txBody>
      </p:sp>
      <p:sp>
        <p:nvSpPr>
          <p:cNvPr id="9" name="align-2"/>
          <p:cNvSpPr/>
          <p:nvPr/>
        </p:nvSpPr>
        <p:spPr>
          <a:xfrm>
            <a:off x="8083296" y="137160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221C42"/>
          </a:solidFill>
          <a:ln w="15875">
            <a:solidFill>
              <a:srgbClr val="C15B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9328" y="15361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15B3C"/>
                </a:solidFill>
              </a:rPr>
              <a:t>Changed on purpose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39328" y="193852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bg1"/>
                </a:solidFill>
              </a:rPr>
              <a:t>The admin panel was dropped: it duplicated what teachers do and added risk</a:t>
            </a:r>
            <a:endParaRPr lang="en-US" sz="1200" dirty="0"/>
          </a:p>
        </p:txBody>
      </p:sp>
      <p:sp>
        <p:nvSpPr>
          <p:cNvPr id="12" name="before-slot"/>
          <p:cNvSpPr/>
          <p:nvPr/>
        </p:nvSpPr>
        <p:spPr>
          <a:xfrm>
            <a:off x="640080" y="3246120"/>
            <a:ext cx="5349240" cy="2286000"/>
          </a:xfrm>
          <a:prstGeom prst="roundRect">
            <a:avLst>
              <a:gd name="adj" fmla="val 4800"/>
            </a:avLst>
          </a:prstGeom>
          <a:solidFill>
            <a:srgbClr val="221C42"/>
          </a:solidFill>
          <a:ln w="9525">
            <a:solidFill>
              <a:srgbClr val="7A69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206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E2A130"/>
                </a:solidFill>
                <a:hlinkClick r:id="rId3"/>
              </a:rPr>
              <a:t>Demo Link</a:t>
            </a:r>
            <a:endParaRPr lang="en-US" sz="1300" dirty="0"/>
          </a:p>
        </p:txBody>
      </p:sp>
      <p:sp>
        <p:nvSpPr>
          <p:cNvPr id="14" name="after-slot"/>
          <p:cNvSpPr/>
          <p:nvPr/>
        </p:nvSpPr>
        <p:spPr>
          <a:xfrm>
            <a:off x="6263640" y="3246120"/>
            <a:ext cx="5257800" cy="2286000"/>
          </a:xfrm>
          <a:prstGeom prst="roundRect">
            <a:avLst>
              <a:gd name="adj" fmla="val 4800"/>
            </a:avLst>
          </a:prstGeom>
          <a:solidFill>
            <a:srgbClr val="221C42"/>
          </a:solidFill>
          <a:ln w="15875">
            <a:solidFill>
              <a:srgbClr val="E2A13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420624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A130"/>
                </a:solidFill>
                <a:hlinkClick r:id="rId4"/>
              </a:rPr>
              <a:t>Link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9776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695A"/>
                </a:solidFill>
              </a:rPr>
              <a:t>Sprint 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3985491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A130"/>
                </a:solidFill>
              </a:rPr>
              <a:t>Sprint 3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18872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DF8"/>
                </a:solidFill>
              </a:rPr>
              <a:t>How we worked</a:t>
            </a:r>
            <a:endParaRPr lang="en-US" sz="2800" dirty="0"/>
          </a:p>
        </p:txBody>
      </p:sp>
      <p:sp>
        <p:nvSpPr>
          <p:cNvPr id="3" name="daily"/>
          <p:cNvSpPr/>
          <p:nvPr/>
        </p:nvSpPr>
        <p:spPr>
          <a:xfrm>
            <a:off x="548640" y="105156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FFDF8"/>
          </a:solidFill>
          <a:ln w="9525">
            <a:solidFill>
              <a:srgbClr val="7A695A">
                <a:alpha val="30000"/>
              </a:srgbClr>
            </a:solidFill>
            <a:prstDash val="solid"/>
          </a:ln>
          <a:effectLst>
            <a:outerShdw blurRad="127000" dist="508" dir="5400000" algn="bl" rotWithShape="0">
              <a:srgbClr val="241A12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188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Daily Scrum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15 minutes, three times a week  ·  blockers raised the same day  ·  integration started in week 5, not week 7</a:t>
            </a:r>
            <a:endParaRPr lang="en-US" sz="1250" dirty="0"/>
          </a:p>
        </p:txBody>
      </p:sp>
      <p:sp>
        <p:nvSpPr>
          <p:cNvPr id="6" name="4l-Liked"/>
          <p:cNvSpPr/>
          <p:nvPr/>
        </p:nvSpPr>
        <p:spPr>
          <a:xfrm>
            <a:off x="548640" y="214884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FFFDF8"/>
          </a:solidFill>
          <a:ln w="9525">
            <a:solidFill>
              <a:srgbClr val="7A695A">
                <a:alpha val="30000"/>
              </a:srgbClr>
            </a:solidFill>
            <a:prstDash val="solid"/>
          </a:ln>
          <a:effectLst>
            <a:outerShdw blurRad="127000" dist="508" dir="5400000" algn="bl" rotWithShape="0">
              <a:srgbClr val="241A12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48840"/>
            <a:ext cx="5349240" cy="64008"/>
          </a:xfrm>
          <a:prstGeom prst="rect">
            <a:avLst/>
          </a:prstGeom>
          <a:solidFill>
            <a:srgbClr val="332B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38658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Liked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62072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Early integration meant no big-bang merge at the end; honest code reviews</a:t>
            </a:r>
            <a:endParaRPr lang="en-US" sz="1250" dirty="0"/>
          </a:p>
        </p:txBody>
      </p:sp>
      <p:sp>
        <p:nvSpPr>
          <p:cNvPr id="10" name="4l-Learned"/>
          <p:cNvSpPr/>
          <p:nvPr/>
        </p:nvSpPr>
        <p:spPr>
          <a:xfrm>
            <a:off x="6263640" y="214884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FFFDF8"/>
          </a:solidFill>
          <a:ln w="9525">
            <a:solidFill>
              <a:srgbClr val="7A695A">
                <a:alpha val="30000"/>
              </a:srgbClr>
            </a:solidFill>
            <a:prstDash val="solid"/>
          </a:ln>
          <a:effectLst>
            <a:outerShdw blurRad="127000" dist="508" dir="5400000" algn="bl" rotWithShape="0">
              <a:srgbClr val="241A12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2148840"/>
            <a:ext cx="5349240" cy="64008"/>
          </a:xfrm>
          <a:prstGeom prst="rect">
            <a:avLst/>
          </a:prstGeom>
          <a:solidFill>
            <a:srgbClr val="E2A13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238658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Learned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862072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Never trust client data; test against a real database, not a fake one</a:t>
            </a:r>
            <a:endParaRPr lang="en-US" sz="1250" dirty="0"/>
          </a:p>
        </p:txBody>
      </p:sp>
      <p:sp>
        <p:nvSpPr>
          <p:cNvPr id="14" name="4l-Lacked"/>
          <p:cNvSpPr/>
          <p:nvPr/>
        </p:nvSpPr>
        <p:spPr>
          <a:xfrm>
            <a:off x="548640" y="393192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FFFDF8"/>
          </a:solidFill>
          <a:ln w="9525">
            <a:solidFill>
              <a:srgbClr val="7A695A">
                <a:alpha val="30000"/>
              </a:srgbClr>
            </a:solidFill>
            <a:prstDash val="solid"/>
          </a:ln>
          <a:effectLst>
            <a:outerShdw blurRad="127000" dist="508" dir="5400000" algn="bl" rotWithShape="0">
              <a:srgbClr val="241A12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931920"/>
            <a:ext cx="5349240" cy="64008"/>
          </a:xfrm>
          <a:prstGeom prst="rect">
            <a:avLst/>
          </a:prstGeom>
          <a:solidFill>
            <a:srgbClr val="C15B3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16966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Lacked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645152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Automated tests came late; file ownership was unclear in week 5</a:t>
            </a:r>
            <a:endParaRPr lang="en-US" sz="1250" dirty="0"/>
          </a:p>
        </p:txBody>
      </p:sp>
      <p:sp>
        <p:nvSpPr>
          <p:cNvPr id="18" name="4l-Longed for"/>
          <p:cNvSpPr/>
          <p:nvPr/>
        </p:nvSpPr>
        <p:spPr>
          <a:xfrm>
            <a:off x="6263640" y="393192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FFFDF8"/>
          </a:solidFill>
          <a:ln w="9525">
            <a:solidFill>
              <a:srgbClr val="7A695A">
                <a:alpha val="30000"/>
              </a:srgbClr>
            </a:solidFill>
            <a:prstDash val="solid"/>
          </a:ln>
          <a:effectLst>
            <a:outerShdw blurRad="127000" dist="508" dir="5400000" algn="bl" rotWithShape="0">
              <a:srgbClr val="241A12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3931920"/>
            <a:ext cx="5349240" cy="64008"/>
          </a:xfrm>
          <a:prstGeom prst="rect">
            <a:avLst/>
          </a:prstGeom>
          <a:solidFill>
            <a:srgbClr val="2E6B4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37960" y="416966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Longed for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4645152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A shared staging environment from day one</a:t>
            </a:r>
            <a:endParaRPr lang="en-US" sz="1250" dirty="0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18872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DF8"/>
                </a:solidFill>
              </a:rPr>
              <a:t>What's next</a:t>
            </a:r>
            <a:endParaRPr lang="en-US" sz="2800" dirty="0"/>
          </a:p>
        </p:txBody>
      </p:sp>
      <p:sp>
        <p:nvSpPr>
          <p:cNvPr id="3" name="next-0"/>
          <p:cNvSpPr/>
          <p:nvPr/>
        </p:nvSpPr>
        <p:spPr>
          <a:xfrm>
            <a:off x="548640" y="1143000"/>
            <a:ext cx="3529584" cy="3840480"/>
          </a:xfrm>
          <a:prstGeom prst="roundRect">
            <a:avLst>
              <a:gd name="adj" fmla="val 3109"/>
            </a:avLst>
          </a:prstGeom>
          <a:solidFill>
            <a:srgbClr val="FFFDF8"/>
          </a:solidFill>
          <a:ln w="9525">
            <a:solidFill>
              <a:srgbClr val="7A695A">
                <a:alpha val="30000"/>
              </a:srgbClr>
            </a:solidFill>
            <a:prstDash val="solid"/>
          </a:ln>
          <a:effectLst>
            <a:outerShdw blurRad="127000" dist="508" dir="5400000" algn="bl" rotWithShape="0">
              <a:srgbClr val="241A12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43000"/>
            <a:ext cx="3529584" cy="73152"/>
          </a:xfrm>
          <a:prstGeom prst="rect">
            <a:avLst/>
          </a:prstGeom>
          <a:solidFill>
            <a:srgbClr val="E2A13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3716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In progress</a:t>
            </a:r>
            <a:endParaRPr lang="en-US" sz="1700" dirty="0"/>
          </a:p>
        </p:txBody>
      </p:sp>
      <p:sp>
        <p:nvSpPr>
          <p:cNvPr id="6" name="chip-0-0"/>
          <p:cNvSpPr/>
          <p:nvPr/>
        </p:nvSpPr>
        <p:spPr>
          <a:xfrm>
            <a:off x="822960" y="1920240"/>
            <a:ext cx="2980944" cy="777240"/>
          </a:xfrm>
          <a:prstGeom prst="roundRect">
            <a:avLst>
              <a:gd name="adj" fmla="val 11765"/>
            </a:avLst>
          </a:prstGeom>
          <a:solidFill>
            <a:srgbClr val="FAF1E2"/>
          </a:solidFill>
          <a:ln w="9525">
            <a:solidFill>
              <a:srgbClr val="E2A130">
                <a:alpha val="5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920240"/>
            <a:ext cx="2706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Native-speaker review of Finnish and Japanese</a:t>
            </a:r>
            <a:endParaRPr lang="en-US" sz="1200" dirty="0"/>
          </a:p>
        </p:txBody>
      </p:sp>
      <p:sp>
        <p:nvSpPr>
          <p:cNvPr id="8" name="chip-0-1"/>
          <p:cNvSpPr/>
          <p:nvPr/>
        </p:nvSpPr>
        <p:spPr>
          <a:xfrm>
            <a:off x="822960" y="2834640"/>
            <a:ext cx="2980944" cy="777240"/>
          </a:xfrm>
          <a:prstGeom prst="roundRect">
            <a:avLst>
              <a:gd name="adj" fmla="val 11765"/>
            </a:avLst>
          </a:prstGeom>
          <a:solidFill>
            <a:srgbClr val="FAF1E2"/>
          </a:solidFill>
          <a:ln w="9525">
            <a:solidFill>
              <a:srgbClr val="E2A130">
                <a:alpha val="5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834640"/>
            <a:ext cx="2706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Accessibility pass on the lesson screens</a:t>
            </a:r>
            <a:endParaRPr lang="en-US" sz="1200" dirty="0"/>
          </a:p>
        </p:txBody>
      </p:sp>
      <p:sp>
        <p:nvSpPr>
          <p:cNvPr id="10" name="next-1"/>
          <p:cNvSpPr/>
          <p:nvPr/>
        </p:nvSpPr>
        <p:spPr>
          <a:xfrm>
            <a:off x="4315968" y="1143000"/>
            <a:ext cx="3529584" cy="3840480"/>
          </a:xfrm>
          <a:prstGeom prst="roundRect">
            <a:avLst>
              <a:gd name="adj" fmla="val 3109"/>
            </a:avLst>
          </a:prstGeom>
          <a:solidFill>
            <a:srgbClr val="FFFDF8"/>
          </a:solidFill>
          <a:ln w="9525">
            <a:solidFill>
              <a:srgbClr val="7A695A">
                <a:alpha val="30000"/>
              </a:srgbClr>
            </a:solidFill>
            <a:prstDash val="solid"/>
          </a:ln>
          <a:effectLst>
            <a:outerShdw blurRad="127000" dist="508" dir="5400000" algn="bl" rotWithShape="0">
              <a:srgbClr val="241A12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15968" y="1143000"/>
            <a:ext cx="3529584" cy="73152"/>
          </a:xfrm>
          <a:prstGeom prst="rect">
            <a:avLst/>
          </a:prstGeom>
          <a:solidFill>
            <a:srgbClr val="332B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90288" y="13716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Next up</a:t>
            </a:r>
            <a:endParaRPr lang="en-US" sz="1700" dirty="0"/>
          </a:p>
        </p:txBody>
      </p:sp>
      <p:sp>
        <p:nvSpPr>
          <p:cNvPr id="13" name="chip-1-0"/>
          <p:cNvSpPr/>
          <p:nvPr/>
        </p:nvSpPr>
        <p:spPr>
          <a:xfrm>
            <a:off x="4590288" y="1920240"/>
            <a:ext cx="2980944" cy="777240"/>
          </a:xfrm>
          <a:prstGeom prst="roundRect">
            <a:avLst>
              <a:gd name="adj" fmla="val 11765"/>
            </a:avLst>
          </a:prstGeom>
          <a:solidFill>
            <a:srgbClr val="FAF1E2"/>
          </a:solidFill>
          <a:ln w="9525">
            <a:solidFill>
              <a:srgbClr val="332B5C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27448" y="1920240"/>
            <a:ext cx="2706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Password-reset emails</a:t>
            </a:r>
          </a:p>
          <a:p>
            <a:pPr marL="0" indent="0">
              <a:buNone/>
            </a:pPr>
            <a:r>
              <a:rPr lang="en-US" sz="1200" dirty="0"/>
              <a:t>Addition of other languages and cultures</a:t>
            </a:r>
          </a:p>
        </p:txBody>
      </p:sp>
      <p:sp>
        <p:nvSpPr>
          <p:cNvPr id="15" name="chip-1-1"/>
          <p:cNvSpPr/>
          <p:nvPr/>
        </p:nvSpPr>
        <p:spPr>
          <a:xfrm>
            <a:off x="4590288" y="2834640"/>
            <a:ext cx="2980944" cy="777240"/>
          </a:xfrm>
          <a:prstGeom prst="roundRect">
            <a:avLst>
              <a:gd name="adj" fmla="val 11765"/>
            </a:avLst>
          </a:prstGeom>
          <a:solidFill>
            <a:srgbClr val="FAF1E2"/>
          </a:solidFill>
          <a:ln w="9525">
            <a:solidFill>
              <a:srgbClr val="332B5C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27448" y="2811779"/>
            <a:ext cx="2706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Teacher-recorded audio for each word</a:t>
            </a:r>
          </a:p>
          <a:p>
            <a:r>
              <a:rPr lang="en-US" sz="1200" dirty="0"/>
              <a:t>Class analytics for teachers</a:t>
            </a:r>
          </a:p>
        </p:txBody>
      </p:sp>
      <p:sp>
        <p:nvSpPr>
          <p:cNvPr id="17" name="chip-1-2"/>
          <p:cNvSpPr/>
          <p:nvPr/>
        </p:nvSpPr>
        <p:spPr>
          <a:xfrm>
            <a:off x="4590288" y="3749040"/>
            <a:ext cx="2980944" cy="777240"/>
          </a:xfrm>
          <a:prstGeom prst="roundRect">
            <a:avLst>
              <a:gd name="adj" fmla="val 11765"/>
            </a:avLst>
          </a:prstGeom>
          <a:solidFill>
            <a:srgbClr val="FAF1E2"/>
          </a:solidFill>
          <a:ln w="9525">
            <a:solidFill>
              <a:srgbClr val="332B5C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27448" y="3918204"/>
            <a:ext cx="2706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New exercise and assessments types</a:t>
            </a:r>
          </a:p>
          <a:p>
            <a:r>
              <a:rPr lang="en-US" sz="1200" dirty="0"/>
              <a:t>Development of a separate module</a:t>
            </a:r>
            <a:r>
              <a:rPr lang="en-US" sz="1200" dirty="0">
                <a:sym typeface="Wingdings" panose="05000000000000000000" pitchFamily="2" charset="2"/>
              </a:rPr>
              <a:t>: (Reading, Writing, Speaking, and Listening) </a:t>
            </a:r>
            <a:endParaRPr lang="en-US" sz="1200" dirty="0"/>
          </a:p>
          <a:p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next-2"/>
          <p:cNvSpPr/>
          <p:nvPr/>
        </p:nvSpPr>
        <p:spPr>
          <a:xfrm>
            <a:off x="8083296" y="1143000"/>
            <a:ext cx="3529584" cy="3840480"/>
          </a:xfrm>
          <a:prstGeom prst="roundRect">
            <a:avLst>
              <a:gd name="adj" fmla="val 3109"/>
            </a:avLst>
          </a:prstGeom>
          <a:solidFill>
            <a:srgbClr val="FFFDF8"/>
          </a:solidFill>
          <a:ln w="9525">
            <a:solidFill>
              <a:srgbClr val="7A695A">
                <a:alpha val="30000"/>
              </a:srgbClr>
            </a:solidFill>
            <a:prstDash val="solid"/>
          </a:ln>
          <a:effectLst>
            <a:outerShdw blurRad="127000" dist="508" dir="5400000" algn="bl" rotWithShape="0">
              <a:srgbClr val="241A12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83296" y="1143000"/>
            <a:ext cx="3529584" cy="73152"/>
          </a:xfrm>
          <a:prstGeom prst="rect">
            <a:avLst/>
          </a:prstGeom>
          <a:solidFill>
            <a:srgbClr val="C15B3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57616" y="13716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Risks</a:t>
            </a:r>
            <a:endParaRPr lang="en-US" sz="1700" dirty="0"/>
          </a:p>
        </p:txBody>
      </p:sp>
      <p:sp>
        <p:nvSpPr>
          <p:cNvPr id="22" name="chip-2-0"/>
          <p:cNvSpPr/>
          <p:nvPr/>
        </p:nvSpPr>
        <p:spPr>
          <a:xfrm>
            <a:off x="8357616" y="1920240"/>
            <a:ext cx="2980944" cy="777240"/>
          </a:xfrm>
          <a:prstGeom prst="roundRect">
            <a:avLst>
              <a:gd name="adj" fmla="val 11765"/>
            </a:avLst>
          </a:prstGeom>
          <a:solidFill>
            <a:srgbClr val="FAF1E2"/>
          </a:solidFill>
          <a:ln w="9525">
            <a:solidFill>
              <a:srgbClr val="C15B3C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94776" y="1920240"/>
            <a:ext cx="2706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Free hosting sleeps when idle - wake it before the demo</a:t>
            </a:r>
            <a:endParaRPr lang="en-US" sz="1200" dirty="0"/>
          </a:p>
        </p:txBody>
      </p:sp>
      <p:sp>
        <p:nvSpPr>
          <p:cNvPr id="24" name="chip-2-1"/>
          <p:cNvSpPr/>
          <p:nvPr/>
        </p:nvSpPr>
        <p:spPr>
          <a:xfrm>
            <a:off x="8357616" y="2834640"/>
            <a:ext cx="2980944" cy="777240"/>
          </a:xfrm>
          <a:prstGeom prst="roundRect">
            <a:avLst>
              <a:gd name="adj" fmla="val 11765"/>
            </a:avLst>
          </a:prstGeom>
          <a:solidFill>
            <a:srgbClr val="FAF1E2"/>
          </a:solidFill>
          <a:ln w="9525">
            <a:solidFill>
              <a:srgbClr val="C15B3C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94776" y="2834640"/>
            <a:ext cx="2706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Uploaded files use the database quota</a:t>
            </a:r>
            <a:endParaRPr lang="en-US" sz="1200" dirty="0"/>
          </a:p>
        </p:txBody>
      </p:sp>
      <p:sp>
        <p:nvSpPr>
          <p:cNvPr id="26" name="chip-2-2"/>
          <p:cNvSpPr/>
          <p:nvPr/>
        </p:nvSpPr>
        <p:spPr>
          <a:xfrm>
            <a:off x="8357616" y="3749040"/>
            <a:ext cx="2980944" cy="777240"/>
          </a:xfrm>
          <a:prstGeom prst="roundRect">
            <a:avLst>
              <a:gd name="adj" fmla="val 11765"/>
            </a:avLst>
          </a:prstGeom>
          <a:solidFill>
            <a:srgbClr val="FAF1E2"/>
          </a:solidFill>
          <a:ln w="9525">
            <a:solidFill>
              <a:srgbClr val="C15B3C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94776" y="3749040"/>
            <a:ext cx="2706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Speech recognition</a:t>
            </a:r>
            <a:r>
              <a:rPr lang="en-US" sz="1200" dirty="0"/>
              <a:t>: Cultural and Language models</a:t>
            </a:r>
          </a:p>
        </p:txBody>
      </p:sp>
      <p:sp>
        <p:nvSpPr>
          <p:cNvPr id="28" name="Text 26"/>
          <p:cNvSpPr txBox="1"/>
          <p:nvPr/>
        </p:nvSpPr>
        <p:spPr>
          <a:xfrm>
            <a:off x="548640" y="52578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accent6"/>
                </a:solidFill>
              </a:rPr>
              <a:t>Priority for future enhancements: recorded audio by real speakers, starting with Twi.</a:t>
            </a:r>
            <a:endParaRPr lang="en-US" sz="1400" dirty="0"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18872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DF8"/>
                </a:solidFill>
              </a:rPr>
              <a:t>Who did what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4643966"/>
              </p:ext>
            </p:extLst>
          </p:nvPr>
        </p:nvGraphicFramePr>
        <p:xfrm>
          <a:off x="548640" y="1188720"/>
          <a:ext cx="11064240" cy="340156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41A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Member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41A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Focus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41A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Key deliverables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41A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Evidence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1A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Suprim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1A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Learning experience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1A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Lesson engine, exercises, hearts, speaking practice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1A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branches · PRs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1A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Hairaat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1A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Accounts and security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1A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bcrypt + JWT, roles, parent PIN, auth screens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1A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branches · PRs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1A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Biplov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1A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Classes and teachers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1A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Class model, join codes, requests, and teacher workspace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1A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branches · PRs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1A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Navin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1A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Content and languages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1A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Four curricula, seed script, Language Hub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1A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branches · PRs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1A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Anubhav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1A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Quality and deployment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1A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Tests, Postman, CI, Render + Atlas deployment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1A1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branches · PRs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6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Every member owned an area end to end: the model, the endpoints and the screens that use them.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Evidence: commit history · pull requests · task board tickets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18872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DF8"/>
                </a:solidFill>
              </a:rPr>
              <a:t>Beyond the brief</a:t>
            </a:r>
            <a:endParaRPr lang="en-US" sz="2800" dirty="0"/>
          </a:p>
        </p:txBody>
      </p:sp>
      <p:sp>
        <p:nvSpPr>
          <p:cNvPr id="3" name="bonus-0"/>
          <p:cNvSpPr/>
          <p:nvPr/>
        </p:nvSpPr>
        <p:spPr>
          <a:xfrm>
            <a:off x="548640" y="1188720"/>
            <a:ext cx="3529584" cy="2057400"/>
          </a:xfrm>
          <a:prstGeom prst="roundRect">
            <a:avLst>
              <a:gd name="adj" fmla="val 5333"/>
            </a:avLst>
          </a:prstGeom>
          <a:solidFill>
            <a:srgbClr val="FFFDF8"/>
          </a:solidFill>
          <a:ln w="9525">
            <a:solidFill>
              <a:srgbClr val="7A695A">
                <a:alpha val="30000"/>
              </a:srgbClr>
            </a:solidFill>
            <a:prstDash val="solid"/>
          </a:ln>
          <a:effectLst>
            <a:outerShdw blurRad="127000" dist="508" dir="5400000" algn="bl" rotWithShape="0">
              <a:srgbClr val="241A12">
                <a:alpha val="10000"/>
              </a:srgbClr>
            </a:outerShdw>
          </a:effectLst>
        </p:spPr>
      </p:sp>
      <p:sp>
        <p:nvSpPr>
          <p:cNvPr id="4" name="bonus-dot-0"/>
          <p:cNvSpPr/>
          <p:nvPr/>
        </p:nvSpPr>
        <p:spPr>
          <a:xfrm>
            <a:off x="822960" y="1444752"/>
            <a:ext cx="384048" cy="384048"/>
          </a:xfrm>
          <a:prstGeom prst="ellipse">
            <a:avLst/>
          </a:prstGeom>
          <a:solidFill>
            <a:srgbClr val="C15B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Hearts system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Honest recovery: review a finished lesson, or wait. Nothing to buy.</a:t>
            </a:r>
            <a:endParaRPr lang="en-US" sz="1200" dirty="0"/>
          </a:p>
        </p:txBody>
      </p:sp>
      <p:sp>
        <p:nvSpPr>
          <p:cNvPr id="8" name="bonus-1"/>
          <p:cNvSpPr/>
          <p:nvPr/>
        </p:nvSpPr>
        <p:spPr>
          <a:xfrm>
            <a:off x="4315968" y="1188720"/>
            <a:ext cx="3529584" cy="2057400"/>
          </a:xfrm>
          <a:prstGeom prst="roundRect">
            <a:avLst>
              <a:gd name="adj" fmla="val 5333"/>
            </a:avLst>
          </a:prstGeom>
          <a:solidFill>
            <a:srgbClr val="FFFDF8"/>
          </a:solidFill>
          <a:ln w="9525">
            <a:solidFill>
              <a:srgbClr val="7A695A">
                <a:alpha val="30000"/>
              </a:srgbClr>
            </a:solidFill>
            <a:prstDash val="solid"/>
          </a:ln>
          <a:effectLst>
            <a:outerShdw blurRad="127000" dist="508" dir="5400000" algn="bl" rotWithShape="0">
              <a:srgbClr val="241A12">
                <a:alpha val="10000"/>
              </a:srgbClr>
            </a:outerShdw>
          </a:effectLst>
        </p:spPr>
      </p:sp>
      <p:sp>
        <p:nvSpPr>
          <p:cNvPr id="9" name="bonus-dot-1"/>
          <p:cNvSpPr/>
          <p:nvPr/>
        </p:nvSpPr>
        <p:spPr>
          <a:xfrm>
            <a:off x="4590288" y="1444752"/>
            <a:ext cx="384048" cy="384048"/>
          </a:xfrm>
          <a:prstGeom prst="ellipse">
            <a:avLst/>
          </a:prstGeom>
          <a:solidFill>
            <a:srgbClr val="E2A1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90288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90288" y="19659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Strict AI coaching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3774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Four verdicts and one concrete tip, with an offline fallback.</a:t>
            </a:r>
            <a:endParaRPr lang="en-US" sz="1200" dirty="0"/>
          </a:p>
        </p:txBody>
      </p:sp>
      <p:sp>
        <p:nvSpPr>
          <p:cNvPr id="13" name="bonus-2"/>
          <p:cNvSpPr/>
          <p:nvPr/>
        </p:nvSpPr>
        <p:spPr>
          <a:xfrm>
            <a:off x="8083296" y="1188720"/>
            <a:ext cx="3529584" cy="2057400"/>
          </a:xfrm>
          <a:prstGeom prst="roundRect">
            <a:avLst>
              <a:gd name="adj" fmla="val 5333"/>
            </a:avLst>
          </a:prstGeom>
          <a:solidFill>
            <a:srgbClr val="FFFDF8"/>
          </a:solidFill>
          <a:ln w="9525">
            <a:solidFill>
              <a:srgbClr val="7A695A">
                <a:alpha val="30000"/>
              </a:srgbClr>
            </a:solidFill>
            <a:prstDash val="solid"/>
          </a:ln>
          <a:effectLst>
            <a:outerShdw blurRad="127000" dist="508" dir="5400000" algn="bl" rotWithShape="0">
              <a:srgbClr val="241A12">
                <a:alpha val="10000"/>
              </a:srgbClr>
            </a:outerShdw>
          </a:effectLst>
        </p:spPr>
      </p:sp>
      <p:sp>
        <p:nvSpPr>
          <p:cNvPr id="14" name="bonus-dot-2"/>
          <p:cNvSpPr/>
          <p:nvPr/>
        </p:nvSpPr>
        <p:spPr>
          <a:xfrm>
            <a:off x="8357616" y="1444752"/>
            <a:ext cx="384048" cy="384048"/>
          </a:xfrm>
          <a:prstGeom prst="ellipse">
            <a:avLst/>
          </a:prstGeom>
          <a:solidFill>
            <a:srgbClr val="332B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57616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357616" y="19659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Three extra languages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57616" y="23774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Finnish, Japanese and Twi - 144 new lessons.</a:t>
            </a:r>
            <a:endParaRPr lang="en-US" sz="1200" dirty="0"/>
          </a:p>
        </p:txBody>
      </p:sp>
      <p:sp>
        <p:nvSpPr>
          <p:cNvPr id="18" name="bonus-3"/>
          <p:cNvSpPr/>
          <p:nvPr/>
        </p:nvSpPr>
        <p:spPr>
          <a:xfrm>
            <a:off x="548640" y="3429000"/>
            <a:ext cx="3529584" cy="2057400"/>
          </a:xfrm>
          <a:prstGeom prst="roundRect">
            <a:avLst>
              <a:gd name="adj" fmla="val 5333"/>
            </a:avLst>
          </a:prstGeom>
          <a:solidFill>
            <a:srgbClr val="FFFDF8"/>
          </a:solidFill>
          <a:ln w="9525">
            <a:solidFill>
              <a:srgbClr val="7A695A">
                <a:alpha val="30000"/>
              </a:srgbClr>
            </a:solidFill>
            <a:prstDash val="solid"/>
          </a:ln>
          <a:effectLst>
            <a:outerShdw blurRad="127000" dist="508" dir="5400000" algn="bl" rotWithShape="0">
              <a:srgbClr val="241A12">
                <a:alpha val="10000"/>
              </a:srgbClr>
            </a:outerShdw>
          </a:effectLst>
        </p:spPr>
      </p:sp>
      <p:sp>
        <p:nvSpPr>
          <p:cNvPr id="19" name="bonus-dot-3"/>
          <p:cNvSpPr/>
          <p:nvPr/>
        </p:nvSpPr>
        <p:spPr>
          <a:xfrm>
            <a:off x="822960" y="3685032"/>
            <a:ext cx="384048" cy="384048"/>
          </a:xfrm>
          <a:prstGeom prst="ellipse">
            <a:avLst/>
          </a:prstGeom>
          <a:solidFill>
            <a:srgbClr val="2E6B4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2062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Class directory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6177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Learners find a teacher and request to join - no code needed.</a:t>
            </a:r>
            <a:endParaRPr lang="en-US" sz="1200" dirty="0"/>
          </a:p>
        </p:txBody>
      </p:sp>
      <p:sp>
        <p:nvSpPr>
          <p:cNvPr id="23" name="bonus-4"/>
          <p:cNvSpPr/>
          <p:nvPr/>
        </p:nvSpPr>
        <p:spPr>
          <a:xfrm>
            <a:off x="4315968" y="3429000"/>
            <a:ext cx="3529584" cy="2057400"/>
          </a:xfrm>
          <a:prstGeom prst="roundRect">
            <a:avLst>
              <a:gd name="adj" fmla="val 5333"/>
            </a:avLst>
          </a:prstGeom>
          <a:solidFill>
            <a:srgbClr val="FFFDF8"/>
          </a:solidFill>
          <a:ln w="9525">
            <a:solidFill>
              <a:srgbClr val="7A695A">
                <a:alpha val="30000"/>
              </a:srgbClr>
            </a:solidFill>
            <a:prstDash val="solid"/>
          </a:ln>
          <a:effectLst>
            <a:outerShdw blurRad="127000" dist="508" dir="5400000" algn="bl" rotWithShape="0">
              <a:srgbClr val="241A12">
                <a:alpha val="10000"/>
              </a:srgbClr>
            </a:outerShdw>
          </a:effectLst>
        </p:spPr>
      </p:sp>
      <p:sp>
        <p:nvSpPr>
          <p:cNvPr id="24" name="bonus-dot-4"/>
          <p:cNvSpPr/>
          <p:nvPr/>
        </p:nvSpPr>
        <p:spPr>
          <a:xfrm>
            <a:off x="4590288" y="3685032"/>
            <a:ext cx="384048" cy="384048"/>
          </a:xfrm>
          <a:prstGeom prst="ellipse">
            <a:avLst/>
          </a:prstGeom>
          <a:solidFill>
            <a:srgbClr val="332B5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90288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90288" y="42062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Files in the database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90288" y="46177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Survive every redeploy; only the class can download them.</a:t>
            </a:r>
            <a:endParaRPr lang="en-US" sz="1200" dirty="0"/>
          </a:p>
        </p:txBody>
      </p:sp>
      <p:sp>
        <p:nvSpPr>
          <p:cNvPr id="28" name="bonus-5"/>
          <p:cNvSpPr/>
          <p:nvPr/>
        </p:nvSpPr>
        <p:spPr>
          <a:xfrm>
            <a:off x="8083296" y="3429000"/>
            <a:ext cx="3529584" cy="2057400"/>
          </a:xfrm>
          <a:prstGeom prst="roundRect">
            <a:avLst>
              <a:gd name="adj" fmla="val 5333"/>
            </a:avLst>
          </a:prstGeom>
          <a:solidFill>
            <a:srgbClr val="FFFDF8"/>
          </a:solidFill>
          <a:ln w="9525">
            <a:solidFill>
              <a:srgbClr val="7A695A">
                <a:alpha val="30000"/>
              </a:srgbClr>
            </a:solidFill>
            <a:prstDash val="solid"/>
          </a:ln>
          <a:effectLst>
            <a:outerShdw blurRad="127000" dist="508" dir="5400000" algn="bl" rotWithShape="0">
              <a:srgbClr val="241A12">
                <a:alpha val="10000"/>
              </a:srgbClr>
            </a:outerShdw>
          </a:effectLst>
        </p:spPr>
      </p:sp>
      <p:sp>
        <p:nvSpPr>
          <p:cNvPr id="29" name="bonus-dot-5"/>
          <p:cNvSpPr/>
          <p:nvPr/>
        </p:nvSpPr>
        <p:spPr>
          <a:xfrm>
            <a:off x="8357616" y="3685032"/>
            <a:ext cx="384048" cy="384048"/>
          </a:xfrm>
          <a:prstGeom prst="ellipse">
            <a:avLst/>
          </a:prstGeom>
          <a:solidFill>
            <a:srgbClr val="C15B3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57616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357616" y="42062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304-page code book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357616" y="46177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Every file explained, generated from the codebase itself.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Sprint 3 in three numbers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E2A130"/>
                </a:solidFill>
              </a:rPr>
              <a:t>536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94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lessons live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12344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E2A130"/>
                </a:solidFill>
              </a:rPr>
              <a:t>410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2194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automated checks passing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12344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E2A130"/>
                </a:solidFill>
              </a:rPr>
              <a:t>1</a:t>
            </a:r>
            <a:endParaRPr lang="en-US" sz="56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2194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deployable app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10698480" cy="27432"/>
          </a:xfrm>
          <a:prstGeom prst="rect">
            <a:avLst/>
          </a:prstGeom>
          <a:solidFill>
            <a:srgbClr val="C15B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1089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A130"/>
                </a:solidFill>
              </a:rPr>
              <a:t>Technical:  </a:t>
            </a:r>
            <a:r>
              <a:rPr lang="en-US" sz="1600" i="1" dirty="0">
                <a:solidFill>
                  <a:schemeClr val="bg1"/>
                </a:solidFill>
              </a:rPr>
              <a:t>never trust the client - validate on the server, and test against a real database.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6118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A130"/>
                </a:solidFill>
              </a:rPr>
              <a:t>Teamwork:  </a:t>
            </a:r>
            <a:r>
              <a:rPr lang="en-US" sz="1600" i="1" dirty="0">
                <a:solidFill>
                  <a:schemeClr val="bg1"/>
                </a:solidFill>
              </a:rPr>
              <a:t>integrate early and own your files - conflicts are a planning problem, not a git problem.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120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</a:rPr>
              <a:t>Thank you - questions?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419273" y="5120640"/>
            <a:ext cx="55510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E2A130"/>
                </a:solidFill>
                <a:hlinkClick r:id="rId3"/>
              </a:rPr>
              <a:t>https://github.com/suprim-rijal/RootBridge-Sprint3</a:t>
            </a:r>
            <a:endParaRPr lang="en-US" sz="1300" dirty="0">
              <a:solidFill>
                <a:srgbClr val="E2A130"/>
              </a:solidFill>
            </a:endParaRPr>
          </a:p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E2A130"/>
                </a:solidFill>
              </a:rPr>
              <a:t>rootbridge.onrender.com</a:t>
            </a:r>
            <a:endParaRPr lang="en-US" sz="1300" dirty="0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RootBridge">
  <a:themeElements>
    <a:clrScheme name="RootBridge">
      <a:dk1>
        <a:srgbClr val="241A12"/>
      </a:dk1>
      <a:lt1>
        <a:srgbClr val="FFFDF8"/>
      </a:lt1>
      <a:dk2>
        <a:srgbClr val="332B5C"/>
      </a:dk2>
      <a:lt2>
        <a:srgbClr val="FAF1E2"/>
      </a:lt2>
      <a:accent1>
        <a:srgbClr val="332B5C"/>
      </a:accent1>
      <a:accent2>
        <a:srgbClr val="C15B3C"/>
      </a:accent2>
      <a:accent3>
        <a:srgbClr val="E2A130"/>
      </a:accent3>
      <a:accent4>
        <a:srgbClr val="2E6B4C"/>
      </a:accent4>
      <a:accent5>
        <a:srgbClr val="221C42"/>
      </a:accent5>
      <a:accent6>
        <a:srgbClr val="7A695A"/>
      </a:accent6>
      <a:hlink>
        <a:srgbClr val="C15B3C"/>
      </a:hlink>
      <a:folHlink>
        <a:srgbClr val="7A695A"/>
      </a:folHlink>
    </a:clrScheme>
    <a:fontScheme name="RootBridge">
      <a:majorFont>
        <a:latin typeface="Baloo 2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2817</TotalTime>
  <Words>1248</Words>
  <Application>Microsoft Office PowerPoint</Application>
  <PresentationFormat>Widescreen</PresentationFormat>
  <Paragraphs>212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Consolas</vt:lpstr>
      <vt:lpstr>Inter</vt:lpstr>
      <vt:lpstr>Wingdings</vt:lpstr>
      <vt:lpstr>RootBridge</vt:lpstr>
      <vt:lpstr>PowerPoint Presentation</vt:lpstr>
      <vt:lpstr>Where we started</vt:lpstr>
      <vt:lpstr>Sprint 3 goals</vt:lpstr>
      <vt:lpstr>Frontend progress</vt:lpstr>
      <vt:lpstr>Backend progress</vt:lpstr>
      <vt:lpstr>PowerPoint Presentation</vt:lpstr>
      <vt:lpstr>How we worked</vt:lpstr>
      <vt:lpstr>What's next</vt:lpstr>
      <vt:lpstr>Who did what</vt:lpstr>
      <vt:lpstr>Beyond the brief</vt:lpstr>
      <vt:lpstr>PowerPoint Presentation</vt:lpstr>
    </vt:vector>
  </TitlesOfParts>
  <Company>Metropolia UAS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RootBridge - Sprint 3</dc:title>
  <dc:subject>PptxGenJS Presentation</dc:subject>
  <dc:creator>Team 7</dc:creator>
  <cp:lastModifiedBy>Suprim Rijal</cp:lastModifiedBy>
  <cp:revision>4</cp:revision>
  <dcterms:created xsi:type="dcterms:W3CDTF">2026-10-05T16:30:06Z</dcterms:created>
  <dcterms:modified xsi:type="dcterms:W3CDTF">2026-10-07T15:56:27Z</dcterms:modified>
</cp:coreProperties>
</file>